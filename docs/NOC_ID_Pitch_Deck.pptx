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914400"/>
            <a:ext cx="3657600" cy="365760"/>
          </a:xfrm>
          <a:prstGeom prst="rect">
            <a:avLst>
              <a:gd name="adj" fmla="val 50000"/>
            </a:avLst>
          </a:prstGeom>
          <a:solidFill>
            <a:srgbClr val="9945FF">
              <a:alpha val="15000"/>
            </a:srgbClr>
          </a:solidFill>
          <a:ln w="9525">
            <a:solidFill>
              <a:srgbClr val="994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Solana Blockchain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NOC ID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Trustless Vehicle Identity Layer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automotive fraud impossible, maintenance predictive, and ownership transparent.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3794760"/>
            <a:ext cx="2011680" cy="868680"/>
          </a:xfrm>
          <a:prstGeom prst="rect">
            <a:avLst/>
          </a:prstGeom>
          <a:solidFill>
            <a:srgbClr val="141929"/>
          </a:solidFill>
          <a:ln w="6350">
            <a:solidFill>
              <a:srgbClr val="994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3794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Shipped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0" y="3794760"/>
            <a:ext cx="2011680" cy="868680"/>
          </a:xfrm>
          <a:prstGeom prst="rect">
            <a:avLst/>
          </a:prstGeom>
          <a:solidFill>
            <a:srgbClr val="141929"/>
          </a:solidFill>
          <a:ln w="6350">
            <a:solidFill>
              <a:srgbClr val="994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3794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4048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Ecosystem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3794760"/>
            <a:ext cx="2011680" cy="868680"/>
          </a:xfrm>
          <a:prstGeom prst="rect">
            <a:avLst/>
          </a:prstGeom>
          <a:solidFill>
            <a:srgbClr val="141929"/>
          </a:solidFill>
          <a:ln w="6350">
            <a:solidFill>
              <a:srgbClr val="994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3794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&lt;$0.01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Mint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Vehicle Passport  |  3D Digital Twin  |  AI Predictive Maintenance  |  NFC + QR Verification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 Asia's automotive market is plagued by systemic fraud and opacity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14630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vehicles in SEA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tampered odometers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NHTSA, Carrier Management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560320" cy="14630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371600"/>
            <a:ext cx="54864" cy="1463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$4,000+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20440" y="1920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per victim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odometer fraud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2044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NHTSA Report 2025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560320" cy="14630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371600"/>
            <a:ext cx="54864" cy="146304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09360" y="1920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cyber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fraud (2021-23)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0936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Management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2560320" cy="14630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06324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31,000+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auto parts seized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 in Vietnam alone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Rouse IP, 2024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337560" y="3063240"/>
            <a:ext cx="2560320" cy="14630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3063240"/>
            <a:ext cx="54864" cy="1463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150K+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52044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Unconnected workshops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Indonesia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52044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Kemenperin estimate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126480" y="3063240"/>
            <a:ext cx="2560320" cy="14630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063240"/>
            <a:ext cx="54864" cy="146304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30936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vehicles 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 years old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093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GMI Research 2024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Proposition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four stakeholder wins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65960" cy="34290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1965960" cy="54864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63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Owners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1691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fraud-proof service history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maintenance alerts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Digital Twin for visual inspection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ownership transfer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1325880"/>
            <a:ext cx="1965960" cy="34290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325880"/>
            <a:ext cx="196596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463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4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Workshops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1920240"/>
            <a:ext cx="1691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mechanic credential (on-chain)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service records = customer trust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management &amp; queue system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dashboard with reviews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1965960" cy="34290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325880"/>
            <a:ext cx="1965960" cy="54864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463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OEM / Enterprise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920240"/>
            <a:ext cx="1691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Fleet-wide visibility &amp; analytics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automation &amp; recall management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network governance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minting cost (&lt;$0.01)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1325880"/>
            <a:ext cx="1965960" cy="34290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0" y="1325880"/>
            <a:ext cx="19659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1463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Admin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86600" y="1920240"/>
            <a:ext cx="1691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governance &amp; RBAC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fees &amp; feature flags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escalation &amp; resolution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for compliance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ID creates an immutable, on-chain identity for every vehicle — anchoring service records, part authenticity, and ownership history to the Solana blockchain.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" cy="475488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4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Compressed NFT Passport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048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vehicle gets a cNFT identity minted at &lt;$0.01 via Metaplex Bubblegum on Solana.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54864" cy="475488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50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 Digital Twin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 model (R3F) with color-coded health per component. Click-to-inspect with AI overlay.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072384"/>
            <a:ext cx="54864" cy="475488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723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NFC + QR Dual Identity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NTAG 424 DNA anti-clone NFC cards + time-sensitive dynamic QR codes for workshop scanning.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694176"/>
            <a:ext cx="54864" cy="4754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941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Predictive Maintenance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3913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engine (XGBoost + SHAP) forecasts part failures with explainable contributing factors.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315968"/>
            <a:ext cx="54864" cy="475488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3159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Copilot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4535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assistant adapts to user role — plain language for owners, technical specs for mechanics.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914400"/>
            <a:ext cx="3931920" cy="38404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5-Portal Ecosystem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212080" y="1508760"/>
            <a:ext cx="3200400" cy="457200"/>
          </a:xfrm>
          <a:prstGeom prst="rect">
            <a:avLst/>
          </a:prstGeom>
          <a:solidFill>
            <a:srgbClr val="1A2035"/>
          </a:solidFill>
          <a:ln w="9525">
            <a:solidFill>
              <a:srgbClr val="14F1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12080" y="1508760"/>
            <a:ext cx="54864" cy="45720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DApp (Owner)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1508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pages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2080" y="2103120"/>
            <a:ext cx="3200400" cy="457200"/>
          </a:xfrm>
          <a:prstGeom prst="rect">
            <a:avLst/>
          </a:prstGeom>
          <a:solidFill>
            <a:srgbClr val="1A2035"/>
          </a:solidFill>
          <a:ln w="9525">
            <a:solidFill>
              <a:srgbClr val="994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12080" y="2103120"/>
            <a:ext cx="54864" cy="45720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28" name="Text 26"/>
          <p:cNvSpPr/>
          <p:nvPr/>
        </p:nvSpPr>
        <p:spPr>
          <a:xfrm>
            <a:off x="539496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4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Workshop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0" y="21031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pages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12080" y="2697480"/>
            <a:ext cx="3200400" cy="457200"/>
          </a:xfrm>
          <a:prstGeom prst="rect">
            <a:avLst/>
          </a:prstGeom>
          <a:solidFill>
            <a:srgbClr val="1A2035"/>
          </a:solidFill>
          <a:ln w="9525">
            <a:solidFill>
              <a:srgbClr val="00D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212080" y="2697480"/>
            <a:ext cx="54864" cy="457200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32" name="Text 30"/>
          <p:cNvSpPr/>
          <p:nvPr/>
        </p:nvSpPr>
        <p:spPr>
          <a:xfrm>
            <a:off x="539496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2697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pages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12080" y="3291840"/>
            <a:ext cx="3200400" cy="457200"/>
          </a:xfrm>
          <a:prstGeom prst="rect">
            <a:avLst/>
          </a:prstGeom>
          <a:solidFill>
            <a:srgbClr val="1A2035"/>
          </a:solidFill>
          <a:ln w="9525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212080" y="329184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539496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0" y="32918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pages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12080" y="3886200"/>
            <a:ext cx="3200400" cy="457200"/>
          </a:xfrm>
          <a:prstGeom prst="rect">
            <a:avLst/>
          </a:prstGeom>
          <a:solidFill>
            <a:srgbClr val="1A203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212080" y="3886200"/>
            <a:ext cx="54864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5394960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0" y="3886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page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45262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pages total  |  17 shared components  |  5 context providers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Demo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frontend MVP — fully operational end-to-end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2801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Booking Lifecycle (End-to-End)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1143000" cy="411480"/>
          </a:xfrm>
          <a:prstGeom prst="rect">
            <a:avLst/>
          </a:prstGeom>
          <a:solidFill>
            <a:srgbClr val="1A2035"/>
          </a:solidFill>
          <a:ln w="9525">
            <a:solidFill>
              <a:srgbClr val="FACC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288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737360" y="182880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B0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65960" y="1828800"/>
            <a:ext cx="1143000" cy="411480"/>
          </a:xfrm>
          <a:prstGeom prst="rect">
            <a:avLst/>
          </a:prstGeom>
          <a:solidFill>
            <a:srgbClr val="1A2035"/>
          </a:solidFill>
          <a:ln w="9525">
            <a:solidFill>
              <a:srgbClr val="14F1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8288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108960" y="182880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B0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1828800"/>
            <a:ext cx="1143000" cy="411480"/>
          </a:xfrm>
          <a:prstGeom prst="rect">
            <a:avLst/>
          </a:prstGeom>
          <a:solidFill>
            <a:srgbClr val="1A2035"/>
          </a:solidFill>
          <a:ln w="9525">
            <a:solidFill>
              <a:srgbClr val="00D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8288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IN_SERVICE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480560" y="182880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B0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1828800"/>
            <a:ext cx="1143000" cy="411480"/>
          </a:xfrm>
          <a:prstGeom prst="rect">
            <a:avLst/>
          </a:prstGeom>
          <a:solidFill>
            <a:srgbClr val="1A2035"/>
          </a:solidFill>
          <a:ln w="9525">
            <a:solidFill>
              <a:srgbClr val="994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8288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INVOICE_SENT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852160" y="182880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B0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80760" y="1828800"/>
            <a:ext cx="1143000" cy="411480"/>
          </a:xfrm>
          <a:prstGeom prst="rect">
            <a:avLst/>
          </a:prstGeom>
          <a:solidFill>
            <a:srgbClr val="1A2035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8288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223760" y="182880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B0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52360" y="1828800"/>
            <a:ext cx="1143000" cy="411480"/>
          </a:xfrm>
          <a:prstGeom prst="rect">
            <a:avLst/>
          </a:prstGeom>
          <a:solidFill>
            <a:srgbClr val="1A2035"/>
          </a:solidFill>
          <a:ln w="9525">
            <a:solidFill>
              <a:srgbClr val="14F19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18288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23317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entry points: Online Booking (DApp) or Walk-in Scan (NFC/QR at Workshop)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880360"/>
            <a:ext cx="2697480" cy="8686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880360"/>
            <a:ext cx="54864" cy="86868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953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scores, next service, active vehicle selector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46120" y="2880360"/>
            <a:ext cx="2697480" cy="8686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2880360"/>
            <a:ext cx="54864" cy="86868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31" name="Text 29"/>
          <p:cNvSpPr/>
          <p:nvPr/>
        </p:nvSpPr>
        <p:spPr>
          <a:xfrm>
            <a:off x="3429000" y="2953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4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 Digital Twin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2900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vehicle models: Avanza, BMW M4, Beat, Harley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0" y="2880360"/>
            <a:ext cx="2697480" cy="8686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2880360"/>
            <a:ext cx="54864" cy="868680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2953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Workshop Queue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0936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service queue, accept/reject, start service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931920"/>
            <a:ext cx="2697480" cy="8686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3931920"/>
            <a:ext cx="54864" cy="868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005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Analytics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4343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health, revenue trends, workshop performance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46120" y="3931920"/>
            <a:ext cx="2697480" cy="8686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46120" y="3931920"/>
            <a:ext cx="54864" cy="86868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43" name="Text 41"/>
          <p:cNvSpPr/>
          <p:nvPr/>
        </p:nvSpPr>
        <p:spPr>
          <a:xfrm>
            <a:off x="3429000" y="4005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429000" y="4343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KYC workflow, audit logs, system config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26480" y="3931920"/>
            <a:ext cx="2697480" cy="8686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3931920"/>
            <a:ext cx="54864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7" name="Text 45"/>
          <p:cNvSpPr/>
          <p:nvPr/>
        </p:nvSpPr>
        <p:spPr>
          <a:xfrm>
            <a:off x="6309360" y="4005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Cross-Portal Notifications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309360" y="4343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notification types across 4 target roles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37947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4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Blockchain Layer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54864" cy="347472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Solana Mainnet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18470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65,000+ TPS, $0.00025/tx, sub-second finality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167128"/>
            <a:ext cx="54864" cy="347472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488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Compressed NFTs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23500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Metaplex Bubblegum — ~$0.005 per vehicle mint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54864" cy="347472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517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PDAs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28529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on-chain storage per vehicle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172968"/>
            <a:ext cx="54864" cy="347472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154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$NOC (SPL Token)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33558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 capped supply, Proof of Maintenance rewards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675888"/>
            <a:ext cx="54864" cy="347472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57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NFC (NTAG 424 DNA)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38587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AES-128 SUN auth, anti-clone, per-tap unique codes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178808"/>
            <a:ext cx="54864" cy="347472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160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QR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" y="43616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signed JWTs, configurable TTL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51560"/>
            <a:ext cx="4114800" cy="18288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(Shipped)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46320" y="1508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Next.js 16 + TypeScript 5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 + Framer Motion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Three Fiber + Three.js (3D Twin)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Maps + Lucide Icons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Context Providers + localStorage sync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017520"/>
            <a:ext cx="4114800" cy="18288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/ ML (Target)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46320" y="34747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LightGBM predictive models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per prediction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LLM Copilot (multi-role)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serving, MLflow registry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prediction hash anchoring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— the world's 4th largest vehicle market by population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297680" cy="34747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Sizing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4864" cy="77724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74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$4.82B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automotive aftermarket (2025)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to $7.59B by 2034 (CAGR 4.78%)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Market Insights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54864" cy="777240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34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54480" y="2834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$57B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vehicle market (1.5M units/year)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6.04% through 2030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347472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 Intelligence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54864" cy="77724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94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4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$7.8M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724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target: 50K vehicles, 500 workshops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penetration of serviceable market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443484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projection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846320" y="1325880"/>
            <a:ext cx="3931920" cy="34747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Indicators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1828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17.9M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09360" y="18288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passenger vehicles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9360" y="2048256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Focus2move 2025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29200" y="23042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212M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9360" y="23042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users (74.6% penetration)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9360" y="252374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DataReportal 2025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029200" y="27797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09360" y="27797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E-wallet adoption among digital users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09360" y="299923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Statista 2024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029200" y="32552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175%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09360" y="32552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in QRIS transactions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09360" y="347472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Indonesia 2024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029200" y="37307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09360" y="37307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penetration (97% by 2029)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09360" y="3950208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Statista forecast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29200" y="42062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$34.6B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09360" y="42062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aftermarket (CAGR 9.8%)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09360" y="4425696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Market Insights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complementary revenue streams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011680" cy="13258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2011680" cy="4572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3898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389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 Fee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 of every service payment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(configurable via admin)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280160"/>
            <a:ext cx="2011680" cy="13258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280160"/>
            <a:ext cx="2011680" cy="4572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3898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4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26080" y="1389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SaaS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51760" y="17830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5-15M/mo subscription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/ Growth / Enterprise tiers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280160"/>
            <a:ext cx="2011680" cy="13258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280160"/>
            <a:ext cx="2011680" cy="45720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3898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1389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Workshop KYC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17830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500K onboarding + Rp 250K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re-certification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1280160"/>
            <a:ext cx="2011680" cy="13258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280160"/>
            <a:ext cx="201168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13898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0" y="1389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NFT Minting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040880" y="17830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$0.15-$0.50 per vehicle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(volume-based pricing)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834640"/>
            <a:ext cx="2011680" cy="13258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834640"/>
            <a:ext cx="2011680" cy="4572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29443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 AI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3337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$NOC-gated analytics &amp; copilot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Burn-on-use model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14600" y="2834640"/>
            <a:ext cx="2011680" cy="13258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14600" y="2834640"/>
            <a:ext cx="2011680" cy="4572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32" name="Text 30"/>
          <p:cNvSpPr/>
          <p:nvPr/>
        </p:nvSpPr>
        <p:spPr>
          <a:xfrm>
            <a:off x="2606040" y="29443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926080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Access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651760" y="3337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fees for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&amp; finance partners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2834640"/>
            <a:ext cx="2011680" cy="13258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834640"/>
            <a:ext cx="2011680" cy="4572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29443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4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120640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Marketplace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46320" y="3337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fleet data for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&amp; aftermarket insights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03720" y="2834640"/>
            <a:ext cx="2011680" cy="13258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03720" y="2834640"/>
            <a:ext cx="2011680" cy="45720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42" name="Text 40"/>
          <p:cNvSpPr/>
          <p:nvPr/>
        </p:nvSpPr>
        <p:spPr>
          <a:xfrm>
            <a:off x="6995160" y="29443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315200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Economics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040880" y="3337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Burns, staking, treasury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Deflationary loop mechanics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4343400"/>
            <a:ext cx="8503920" cy="594360"/>
          </a:xfrm>
          <a:prstGeom prst="rect">
            <a:avLst/>
          </a:prstGeom>
          <a:solidFill>
            <a:srgbClr val="1A2035"/>
          </a:solidFill>
          <a:ln w="9525">
            <a:solidFill>
              <a:srgbClr val="14F19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343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2 Combined Projection: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657600" y="4343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Rp 6.7B (~$418K)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6400800" y="4343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workshops  |  50K vehicles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 &amp; Comparables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97680" cy="38404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&amp; Operational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pages across 5 fully functional portals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interactive 3D vehicle models (R3F)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booking lifecycle (6-step state machine)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Cross-portal notification system (12 types)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Wallet-based RBAC with full audit trail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platform fees &amp; feature flags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shared components, 5 context providers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TypeScript build errors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persistence + cross-tab sync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931920" cy="38404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Validation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1645920"/>
            <a:ext cx="3566160" cy="822960"/>
          </a:xfrm>
          <a:prstGeom prst="rect">
            <a:avLst/>
          </a:prstGeom>
          <a:solidFill>
            <a:srgbClr val="1A20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645920"/>
            <a:ext cx="54864" cy="82296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CARFAX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1691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$614M revenue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1965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30B+ vehicle history records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by S&amp;P Global (IHS Markit)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0" y="2651760"/>
            <a:ext cx="3566160" cy="822960"/>
          </a:xfrm>
          <a:prstGeom prst="rect">
            <a:avLst/>
          </a:prstGeom>
          <a:solidFill>
            <a:srgbClr val="1A20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0" y="2651760"/>
            <a:ext cx="54864" cy="82296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4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CarVertical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FT1000 Ranked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16M EUR revenue (2021)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Ethereum-based vehicle reports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3657600"/>
            <a:ext cx="3566160" cy="822960"/>
          </a:xfrm>
          <a:prstGeom prst="rect">
            <a:avLst/>
          </a:prstGeom>
          <a:solidFill>
            <a:srgbClr val="1A20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3657600"/>
            <a:ext cx="54864" cy="822960"/>
          </a:xfrm>
          <a:prstGeom prst="rect">
            <a:avLst/>
          </a:prstGeom>
          <a:solidFill>
            <a:srgbClr val="00D1FF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3703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VINchain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Blockchain-first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vehicle data marketplace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with EpicVIN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0" y="3840480"/>
            <a:ext cx="3566160" cy="822960"/>
          </a:xfrm>
          <a:prstGeom prst="rect">
            <a:avLst/>
          </a:prstGeom>
          <a:solidFill>
            <a:srgbClr val="1A203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3886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NOC ID Advantage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Digital Twin + AI Predictions + NFC/QR Verify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Token Incentives + SEA-first = No direct competitor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 Us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7373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trustless vehicle identity layer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Southeast Asia and beyond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2697480"/>
            <a:ext cx="6400800" cy="14630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Milestones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45920" y="3200400"/>
            <a:ext cx="1783080" cy="77724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8" name="Shape 6"/>
          <p:cNvSpPr/>
          <p:nvPr/>
        </p:nvSpPr>
        <p:spPr>
          <a:xfrm>
            <a:off x="1645920" y="3200400"/>
            <a:ext cx="1783080" cy="4572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32735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3520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(Fastify + PostgreSQL) + Solana integration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0" y="3200400"/>
            <a:ext cx="1783080" cy="77724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3200400"/>
            <a:ext cx="1783080" cy="4572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32735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4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3520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deployment + OEM partnerships + workshop onboarding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69280" y="3200400"/>
            <a:ext cx="1783080" cy="77724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0" y="3200400"/>
            <a:ext cx="178308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32735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3520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launch + regional expansion + mobile app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NOC ID  |  Nusantara Otomotif Chain ID  |  Powered by Solana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nocid.io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NOC ID — Pitch Deck</dc:title>
  <dc:subject>PptxGenJS Presentation</dc:subject>
  <dc:creator>NOC ID Product Team</dc:creator>
  <cp:lastModifiedBy>NOC ID Product Team</cp:lastModifiedBy>
  <cp:revision>1</cp:revision>
  <dcterms:created xsi:type="dcterms:W3CDTF">2026-03-30T09:54:20Z</dcterms:created>
  <dcterms:modified xsi:type="dcterms:W3CDTF">2026-03-30T09:54:20Z</dcterms:modified>
</cp:coreProperties>
</file>